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-457200"/>
            <a:ext cx="3657600" cy="3657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4389120"/>
            <a:ext cx="2743200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23444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</a:defRPr>
            </a:pPr>
            <a:r>
              <a:t>LastMinute ITR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0A5FA"/>
                </a:solidFill>
              </a:defRPr>
            </a:pPr>
            <a:r>
              <a:t>Your friendly AI CA for last-minute ITR filing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Prep with AI. You file on incometax.gov.in yourself.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434840"/>
            <a:ext cx="2926080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5445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A5FA"/>
                </a:solidFill>
              </a:defRPr>
            </a:pPr>
            <a:r>
              <a:t>Investor Pitch Deck ·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Lawful tax saving · Proof-based claims · DPDP compliant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7+ crore Indians file ITR every year — most dread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LastMinute ITR · Confidential · AY 2026-27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331720" cy="14630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33172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29968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7.28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87168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t>ITRs filed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61488"/>
            <a:ext cx="2002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AY 2024-25 official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72968" y="1828800"/>
            <a:ext cx="2331720" cy="14630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72968" y="1828800"/>
            <a:ext cx="233172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029968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3.34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487168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t>ITR-1 filers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761488"/>
            <a:ext cx="2002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Primary salaried wedge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05856" y="1828800"/>
            <a:ext cx="2331720" cy="14630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05856" y="1828800"/>
            <a:ext cx="233172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448" y="2029968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30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2487168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t>E-verify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2761488"/>
            <a:ext cx="2002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Miss it → invalid return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66160"/>
            <a:ext cx="7589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Wrong form anxiety — ITR-1 vs 2 vs 4 confusion after rule changes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AIS / Form 26AS mismatches cause refund delays and notices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Old vs new regime choice is opaque; users leave money on the table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Competitors over-promise auto-filing; trust breaks when data is wrong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CAs are expensive; DIY portals use jargon normal users can't follow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AI-assisted ITR prep with companion-mode filing on the government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LastMinute ITR · Confidential · AY 2026-27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7589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Import-first funnel: Form 16 → parse → regime compare → paywall → portal guide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Deterministic Python tax engine (ITR-1–7 rules) before any LLM layer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Mismatch detection across AIS, 26AS, and Form 16 before you file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Lawful deduction suggestions — proof-based, never fake claims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Companion mode: screen-by-screen walkthrough on incometax.gov.in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User always files, submits, and e-verifies themselves — we never auto-submit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4-step journey from panic to filed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LastMinute ITR · Confidential · AY 2026-27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1965960" cy="2148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4168" y="20574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21671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Form 16, AIS,</a:t>
            </a:r>
            <a:br/>
            <a:r>
              <a:t>bank statements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70048" y="1874519"/>
            <a:ext cx="1965960" cy="2148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19856" y="20574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1671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26974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310896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Regime compare,</a:t>
            </a:r>
            <a:br/>
            <a:r>
              <a:t>mismatch fixes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45736" y="1874519"/>
            <a:ext cx="1965960" cy="2148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95544" y="20574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95544" y="21671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2896" y="26974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Unlock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2896" y="310896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Pay once for</a:t>
            </a:r>
            <a:br/>
            <a:r>
              <a:t>portal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6" y="2697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21424" y="1874519"/>
            <a:ext cx="1965960" cy="2148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71232" y="20574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71232" y="21671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269748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8584" y="310896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Copy to incometax.gov.in</a:t>
            </a:r>
            <a:br/>
            <a:r>
              <a:t>&amp; e-verify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343400"/>
            <a:ext cx="7772400" cy="12344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526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3A8A"/>
                </a:solidFill>
              </a:defRPr>
            </a:pPr>
            <a:r>
              <a:t>Companion Mode = trust moat</a:t>
            </a:r>
            <a:br/>
            <a:r>
              <a:t>We prepare numbers and guide screen-by-screen. User retains control. No ERI dependency at launch.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Large, recurring, deadline-driven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LastMinute ITR · Confidential · AY 2026-27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2331720" cy="14630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233172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84248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₹3–10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41448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t>Year 2–3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15768"/>
            <a:ext cx="2002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3L–5L users @ 12–18% paid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72968" y="1783080"/>
            <a:ext cx="2331720" cy="14630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72968" y="1783080"/>
            <a:ext cx="233172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984248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₹80L–1.5Cr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441448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t>Good Year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715768"/>
            <a:ext cx="2002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1L users @ 10–15% paid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05856" y="1783080"/>
            <a:ext cx="2331720" cy="14630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05856" y="1783080"/>
            <a:ext cx="233172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448" y="1984248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</a:defRPr>
            </a:pPr>
            <a:r>
              <a:t>₹15–50L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2441448"/>
            <a:ext cx="2002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t>Conservative Y1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2715768"/>
            <a:ext cx="2002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25k–50k users @ 6–10% paid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20440"/>
            <a:ext cx="7589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Wedge: salaried + pension + interest income (ITR-1 / ITR-2)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Seasonal spike Jun–Jul filing season → predictable CAC windows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Expand to freelancers (44ADA), capital gains, notices, annual plans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B2B: employer partnerships, payroll integrations, ERI/API path later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Freemium funnel → paid portal companion unlock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LastMinute ITR · Confidential · AY 2026-27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7772400" cy="777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9933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₹0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9339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Tax estimate, ITR form selector, filing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97480"/>
            <a:ext cx="7772400" cy="777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620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DIY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8620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₹499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620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Form 16 import, wizard, pre-submit checks, portal guide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7772400" cy="77724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30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AI Smart 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7307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₹349 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7307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Mismatch engine, regime optimizer, lawful deductions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34840"/>
            <a:ext cx="7772400" cy="777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994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CA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5994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t>₹2,499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5994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Expert sign-off, notice-risk review (waitlist)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94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Unit economics: ₹349–899 ARPU · Razorpay live · Upsell to complex cases ₹2,999–9,999+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Win on trust + simplicity, not AI hype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LastMinute ITR · Confidential · AY 2026-27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2011680" y="17830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</a:defRPr>
            </a:pPr>
            <a:r>
              <a:t>ClearTax / Quicko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</a:defRPr>
            </a:pPr>
            <a:r>
              <a:t>Traditional 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783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</a:defRPr>
            </a:pPr>
            <a:r>
              <a:t>LastMinute ITR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67128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16712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₹799–999+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67128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₹2,000–5,000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6712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₹349–899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25496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Filing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825496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Platform-led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825496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Human-led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825496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6A34A"/>
                </a:solidFill>
              </a:defRPr>
            </a:pPr>
            <a:r>
              <a:t>Companion (user files)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83864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Mismatch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483864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Varies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483864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Manual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48386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6A34A"/>
                </a:solidFill>
              </a:defRPr>
            </a:pPr>
            <a:r>
              <a:t>Engine-first, pre-file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42232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Trust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14223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Auto-file implied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142232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High trust, slow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14223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6A34A"/>
                </a:solidFill>
              </a:defRPr>
            </a:pPr>
            <a:r>
              <a:t>Honest, proof-based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Last-minute UX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80060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Cluttered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8006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Unavailable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8006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6A34A"/>
                </a:solidFill>
              </a:defRPr>
            </a:pPr>
            <a:r>
              <a:t>Built for deadline panic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Traction &amp; Product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MVP live — iterating toward launch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LastMinute ITR · Confidential · AY 2026-27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✓ Live on Vercel with Next.js app + Python L1 tax engine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✓ Full funnel: import → regime → deductions → paywall → companion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✓ Razorpay payments integrated; companion unlock on payment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✓ SEO content: learn guides, glossary, blogs for last-minute ITR keywords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✓ Analytics + E2E test suite in place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→ In progress: Apple/Quicko UI polish, funnel simplification, CA waitlist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→ Next: closed beta (100–300 users), CA audit loop, performance marketing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29200"/>
            <a:ext cx="777240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166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63EB"/>
                </a:solidFill>
              </a:defRPr>
            </a:pPr>
            <a:r>
              <a:t>Live demo: lastminute-reb94pi2k-nikhil-anand-s-projects12.vercel.app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Technology &amp;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Engine-first architecture builds defensible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LastMinute ITR · Confidential · AY 2026-27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Python L1 engine from official ITR-1–7 forms — deterministic math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LLM layer only for explanations &amp; Q&amp;A, not tax computation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Companion portal guide mapped to incometax.gov.in screen flow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DPDP-compliant data handling, consent, encryption, audit logs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Mismatch reconciliation engine (AIS / 26AS / Form 16) = core product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Future: ERI/API filing path when certified (Income Tax Dept Type 2 ERI)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Stack: Next.js · Python tax engine · Razorpay · Vercel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Own the last-minute ITR moment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LastMinute ITR · Confidential · AY 2026-27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7589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SEO: deadline pages, regime compare, Form 16 guides, glossary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Performance ads in Jun–Jul filing season with ₹349 launch offer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Content: Reddit/YouTube — mismatch fear, regime confusion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Referral: share regime savings card, WhatsApp-friendly checklist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Partnerships: payroll SaaS, fintech apps, employer HR programs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Retention: annual plan (reminders, planning, deduction nudges)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Narrow wedge → trust → expand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LastMinute ITR · Confidential · AY 2026-27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2801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92024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</a:defRPr>
            </a:pPr>
            <a:r>
              <a:t>Salaried ITR-1/2, companion mode, AI Smart launch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1280160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Q3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88036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</a:defRPr>
            </a:pPr>
            <a:r>
              <a:t>Closed beta, CA review waitlist, funnel optimization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1280160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4047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Q4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840479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</a:defRPr>
            </a:pPr>
            <a:r>
              <a:t>Freelancer 44ADA, senior citizen flows, annual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09159"/>
            <a:ext cx="1280160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80059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800599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</a:defRPr>
            </a:pPr>
            <a:r>
              <a:t>Capital gains, notices, ERI/API path, B2B employer channel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465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LastMinute ITR · Confidential · AY 2026-27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Raise seed capital to scale Jul 2026 filing season acquisition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Hire: growth marketer, CA network lead, senior full-stack engineer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12-month target: 50k–100k users, 8–12% paid conversion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Use of funds: 40% growth · 30% product · 20% CA ops · 10%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2920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A5FA"/>
                </a:solidFill>
              </a:defRPr>
            </a:pPr>
            <a:r>
              <a:t>Let's make ITR filing feel like having a personal CA — without the CA bill.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66928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contact@lastminuteitr.com · lastminuteitr.com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